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1" r:id="rId1"/>
  </p:sldMasterIdLst>
  <p:sldIdLst>
    <p:sldId id="256" r:id="rId2"/>
    <p:sldId id="269" r:id="rId3"/>
    <p:sldId id="270" r:id="rId4"/>
    <p:sldId id="271" r:id="rId5"/>
    <p:sldId id="272" r:id="rId6"/>
    <p:sldId id="266" r:id="rId7"/>
    <p:sldId id="267" r:id="rId8"/>
    <p:sldId id="268" r:id="rId9"/>
    <p:sldId id="258" r:id="rId10"/>
    <p:sldId id="259" r:id="rId11"/>
    <p:sldId id="260" r:id="rId12"/>
    <p:sldId id="261" r:id="rId13"/>
    <p:sldId id="262" r:id="rId14"/>
    <p:sldId id="264" r:id="rId15"/>
    <p:sldId id="265" r:id="rId16"/>
    <p:sldId id="26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B39F6-5B39-4FB0-888F-20B90B03EA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7483425-C7BB-4270-ACB0-71009AAAD1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2500B52-3543-4677-8F78-D95577FD4945}"/>
              </a:ext>
            </a:extLst>
          </p:cNvPr>
          <p:cNvSpPr>
            <a:spLocks noGrp="1"/>
          </p:cNvSpPr>
          <p:nvPr>
            <p:ph type="dt" sz="half" idx="10"/>
          </p:nvPr>
        </p:nvSpPr>
        <p:spPr/>
        <p:txBody>
          <a:bodyPr/>
          <a:lstStyle/>
          <a:p>
            <a:fld id="{7BE8C8B9-745B-4632-9380-8D504A4AB06F}" type="datetimeFigureOut">
              <a:rPr lang="en-IN" smtClean="0"/>
              <a:t>21-01-2026</a:t>
            </a:fld>
            <a:endParaRPr lang="en-IN" dirty="0"/>
          </a:p>
        </p:txBody>
      </p:sp>
      <p:sp>
        <p:nvSpPr>
          <p:cNvPr id="5" name="Footer Placeholder 4">
            <a:extLst>
              <a:ext uri="{FF2B5EF4-FFF2-40B4-BE49-F238E27FC236}">
                <a16:creationId xmlns:a16="http://schemas.microsoft.com/office/drawing/2014/main" id="{C00812BF-E44B-4A83-967D-714C6519CED2}"/>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3F16B4F-DFAB-4E64-9E2C-58385921229B}"/>
              </a:ext>
            </a:extLst>
          </p:cNvPr>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930323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9189E-A200-476B-9457-725D3D8F75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053DF4-3DD1-4F36-A3B0-7D1C36052C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2916B4-44A5-46D2-9835-6F3A5B6619A6}"/>
              </a:ext>
            </a:extLst>
          </p:cNvPr>
          <p:cNvSpPr>
            <a:spLocks noGrp="1"/>
          </p:cNvSpPr>
          <p:nvPr>
            <p:ph type="dt" sz="half" idx="10"/>
          </p:nvPr>
        </p:nvSpPr>
        <p:spPr/>
        <p:txBody>
          <a:bodyPr/>
          <a:lstStyle/>
          <a:p>
            <a:fld id="{7BE8C8B9-745B-4632-9380-8D504A4AB06F}" type="datetimeFigureOut">
              <a:rPr lang="en-IN" smtClean="0"/>
              <a:t>21-01-2026</a:t>
            </a:fld>
            <a:endParaRPr lang="en-IN" dirty="0"/>
          </a:p>
        </p:txBody>
      </p:sp>
      <p:sp>
        <p:nvSpPr>
          <p:cNvPr id="5" name="Footer Placeholder 4">
            <a:extLst>
              <a:ext uri="{FF2B5EF4-FFF2-40B4-BE49-F238E27FC236}">
                <a16:creationId xmlns:a16="http://schemas.microsoft.com/office/drawing/2014/main" id="{82F2BD0B-BAE7-48C9-9681-8BF693E3F8F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80C8EEB-9683-4F2B-99F9-E170D45D3A4B}"/>
              </a:ext>
            </a:extLst>
          </p:cNvPr>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1383048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48D5D-9967-4A15-8FBA-D0BBC5F40C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2B3F6BC-A6A2-4E6E-80A0-82A3C39AB6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2DE460-5593-4A1A-A638-3653F3B318B3}"/>
              </a:ext>
            </a:extLst>
          </p:cNvPr>
          <p:cNvSpPr>
            <a:spLocks noGrp="1"/>
          </p:cNvSpPr>
          <p:nvPr>
            <p:ph type="dt" sz="half" idx="10"/>
          </p:nvPr>
        </p:nvSpPr>
        <p:spPr/>
        <p:txBody>
          <a:bodyPr/>
          <a:lstStyle/>
          <a:p>
            <a:fld id="{7BE8C8B9-745B-4632-9380-8D504A4AB06F}" type="datetimeFigureOut">
              <a:rPr lang="en-IN" smtClean="0"/>
              <a:t>21-01-2026</a:t>
            </a:fld>
            <a:endParaRPr lang="en-IN" dirty="0"/>
          </a:p>
        </p:txBody>
      </p:sp>
      <p:sp>
        <p:nvSpPr>
          <p:cNvPr id="5" name="Footer Placeholder 4">
            <a:extLst>
              <a:ext uri="{FF2B5EF4-FFF2-40B4-BE49-F238E27FC236}">
                <a16:creationId xmlns:a16="http://schemas.microsoft.com/office/drawing/2014/main" id="{BDAB570D-6971-47DC-945F-60A0ACE40C3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F62EE37-42D1-4A50-90CA-BCA604CDAF66}"/>
              </a:ext>
            </a:extLst>
          </p:cNvPr>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772502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E54E-0D2D-4740-B0A2-5EE554B835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62F428-C940-4735-AD35-1FD1063804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DE721B1-FDAA-4F4D-9764-5F92BD8BC8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2089EF4-2534-44CD-85B8-A972CCD6126E}"/>
              </a:ext>
            </a:extLst>
          </p:cNvPr>
          <p:cNvSpPr>
            <a:spLocks noGrp="1"/>
          </p:cNvSpPr>
          <p:nvPr>
            <p:ph type="dt" sz="half" idx="10"/>
          </p:nvPr>
        </p:nvSpPr>
        <p:spPr/>
        <p:txBody>
          <a:bodyPr/>
          <a:lstStyle/>
          <a:p>
            <a:fld id="{7BE8C8B9-745B-4632-9380-8D504A4AB06F}" type="datetimeFigureOut">
              <a:rPr lang="en-IN" smtClean="0"/>
              <a:t>21-01-2026</a:t>
            </a:fld>
            <a:endParaRPr lang="en-IN" dirty="0"/>
          </a:p>
        </p:txBody>
      </p:sp>
      <p:sp>
        <p:nvSpPr>
          <p:cNvPr id="6" name="Footer Placeholder 5">
            <a:extLst>
              <a:ext uri="{FF2B5EF4-FFF2-40B4-BE49-F238E27FC236}">
                <a16:creationId xmlns:a16="http://schemas.microsoft.com/office/drawing/2014/main" id="{0C4C09A3-D73B-4C1E-9C9C-3AA756699B8A}"/>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223BCF8-E45E-430D-A82F-FAC66181435D}"/>
              </a:ext>
            </a:extLst>
          </p:cNvPr>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2995994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E604A-144D-4C8F-A4F1-5F22556BF26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8B7DED3-43C1-4EEB-8A79-D69DF3179A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992DCA-1CEB-492B-99EE-D0AF4E3576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9A92ABA-961E-4CAB-BADB-48355812D6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E78620-1085-496F-ADFC-D85D7F7883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B570B58-CBFB-4A7D-B4E3-5985EF5D4366}"/>
              </a:ext>
            </a:extLst>
          </p:cNvPr>
          <p:cNvSpPr>
            <a:spLocks noGrp="1"/>
          </p:cNvSpPr>
          <p:nvPr>
            <p:ph type="dt" sz="half" idx="10"/>
          </p:nvPr>
        </p:nvSpPr>
        <p:spPr/>
        <p:txBody>
          <a:bodyPr/>
          <a:lstStyle/>
          <a:p>
            <a:fld id="{7BE8C8B9-745B-4632-9380-8D504A4AB06F}" type="datetimeFigureOut">
              <a:rPr lang="en-IN" smtClean="0"/>
              <a:t>21-01-2026</a:t>
            </a:fld>
            <a:endParaRPr lang="en-IN" dirty="0"/>
          </a:p>
        </p:txBody>
      </p:sp>
      <p:sp>
        <p:nvSpPr>
          <p:cNvPr id="8" name="Footer Placeholder 7">
            <a:extLst>
              <a:ext uri="{FF2B5EF4-FFF2-40B4-BE49-F238E27FC236}">
                <a16:creationId xmlns:a16="http://schemas.microsoft.com/office/drawing/2014/main" id="{2DFEE058-0F9E-4EF6-B662-9ABF28884574}"/>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DCEC94B8-1C97-488E-8F4F-9DBF1348E9B2}"/>
              </a:ext>
            </a:extLst>
          </p:cNvPr>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2872959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71923-C430-4EF2-8E86-034B4122BA4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5CDDA2-C487-4E44-AA0F-5CAFC6D84963}"/>
              </a:ext>
            </a:extLst>
          </p:cNvPr>
          <p:cNvSpPr>
            <a:spLocks noGrp="1"/>
          </p:cNvSpPr>
          <p:nvPr>
            <p:ph type="dt" sz="half" idx="10"/>
          </p:nvPr>
        </p:nvSpPr>
        <p:spPr/>
        <p:txBody>
          <a:bodyPr/>
          <a:lstStyle/>
          <a:p>
            <a:fld id="{7BE8C8B9-745B-4632-9380-8D504A4AB06F}" type="datetimeFigureOut">
              <a:rPr lang="en-IN" smtClean="0"/>
              <a:t>21-01-2026</a:t>
            </a:fld>
            <a:endParaRPr lang="en-IN" dirty="0"/>
          </a:p>
        </p:txBody>
      </p:sp>
      <p:sp>
        <p:nvSpPr>
          <p:cNvPr id="4" name="Footer Placeholder 3">
            <a:extLst>
              <a:ext uri="{FF2B5EF4-FFF2-40B4-BE49-F238E27FC236}">
                <a16:creationId xmlns:a16="http://schemas.microsoft.com/office/drawing/2014/main" id="{9D7B2711-F3D4-4658-A75D-27BDE3F469CD}"/>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DD54D121-7FAE-44CB-9F21-3336C4DF0834}"/>
              </a:ext>
            </a:extLst>
          </p:cNvPr>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366538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A28390-ECE1-470D-B723-A156C89E8322}"/>
              </a:ext>
            </a:extLst>
          </p:cNvPr>
          <p:cNvSpPr>
            <a:spLocks noGrp="1"/>
          </p:cNvSpPr>
          <p:nvPr>
            <p:ph type="dt" sz="half" idx="10"/>
          </p:nvPr>
        </p:nvSpPr>
        <p:spPr/>
        <p:txBody>
          <a:bodyPr/>
          <a:lstStyle/>
          <a:p>
            <a:fld id="{7BE8C8B9-745B-4632-9380-8D504A4AB06F}" type="datetimeFigureOut">
              <a:rPr lang="en-IN" smtClean="0"/>
              <a:t>21-01-2026</a:t>
            </a:fld>
            <a:endParaRPr lang="en-IN" dirty="0"/>
          </a:p>
        </p:txBody>
      </p:sp>
      <p:sp>
        <p:nvSpPr>
          <p:cNvPr id="3" name="Footer Placeholder 2">
            <a:extLst>
              <a:ext uri="{FF2B5EF4-FFF2-40B4-BE49-F238E27FC236}">
                <a16:creationId xmlns:a16="http://schemas.microsoft.com/office/drawing/2014/main" id="{CE3C435A-4136-4019-A171-11A2A6968944}"/>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540816E6-2984-4037-A5FE-45BF21546926}"/>
              </a:ext>
            </a:extLst>
          </p:cNvPr>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491473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58805-C2A6-46D7-9982-A56ACC3B7F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F5FA218-AEAE-4D77-A50B-9D56CE4F44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21233F-0D63-4241-97E3-CB9C5F15BA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5B5AF1-C950-4493-8AEF-2EC1847B8F2F}"/>
              </a:ext>
            </a:extLst>
          </p:cNvPr>
          <p:cNvSpPr>
            <a:spLocks noGrp="1"/>
          </p:cNvSpPr>
          <p:nvPr>
            <p:ph type="dt" sz="half" idx="10"/>
          </p:nvPr>
        </p:nvSpPr>
        <p:spPr/>
        <p:txBody>
          <a:bodyPr/>
          <a:lstStyle/>
          <a:p>
            <a:fld id="{7BE8C8B9-745B-4632-9380-8D504A4AB06F}" type="datetimeFigureOut">
              <a:rPr lang="en-IN" smtClean="0"/>
              <a:t>21-01-2026</a:t>
            </a:fld>
            <a:endParaRPr lang="en-IN" dirty="0"/>
          </a:p>
        </p:txBody>
      </p:sp>
      <p:sp>
        <p:nvSpPr>
          <p:cNvPr id="6" name="Footer Placeholder 5">
            <a:extLst>
              <a:ext uri="{FF2B5EF4-FFF2-40B4-BE49-F238E27FC236}">
                <a16:creationId xmlns:a16="http://schemas.microsoft.com/office/drawing/2014/main" id="{64AA4A2C-4EFC-4453-8683-E5EDF092E96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5267E4F1-05AA-405C-BC95-E2304E1F46CA}"/>
              </a:ext>
            </a:extLst>
          </p:cNvPr>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2706691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623DE-792A-4206-B7DA-3CD81E51ED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273A1EE-47D0-4A5B-8CAC-C6D6046934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C302177-0781-40F8-819E-E36DAC43B1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DF745F-65F1-4866-A1D4-B0161AD19857}"/>
              </a:ext>
            </a:extLst>
          </p:cNvPr>
          <p:cNvSpPr>
            <a:spLocks noGrp="1"/>
          </p:cNvSpPr>
          <p:nvPr>
            <p:ph type="dt" sz="half" idx="10"/>
          </p:nvPr>
        </p:nvSpPr>
        <p:spPr/>
        <p:txBody>
          <a:bodyPr/>
          <a:lstStyle/>
          <a:p>
            <a:fld id="{7BE8C8B9-745B-4632-9380-8D504A4AB06F}" type="datetimeFigureOut">
              <a:rPr lang="en-IN" smtClean="0"/>
              <a:t>21-01-2026</a:t>
            </a:fld>
            <a:endParaRPr lang="en-IN" dirty="0"/>
          </a:p>
        </p:txBody>
      </p:sp>
      <p:sp>
        <p:nvSpPr>
          <p:cNvPr id="6" name="Footer Placeholder 5">
            <a:extLst>
              <a:ext uri="{FF2B5EF4-FFF2-40B4-BE49-F238E27FC236}">
                <a16:creationId xmlns:a16="http://schemas.microsoft.com/office/drawing/2014/main" id="{3567C3AD-3C19-41BA-B676-4490956D6F9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EE8F37A-1BEC-4DA0-B16E-95F5897A6875}"/>
              </a:ext>
            </a:extLst>
          </p:cNvPr>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499656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1ECA9-7BBE-4C44-A7FF-18EDD495431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754D590-7F41-480C-AA17-721B6DEF87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DE288E-1963-466F-A52D-5462390DF985}"/>
              </a:ext>
            </a:extLst>
          </p:cNvPr>
          <p:cNvSpPr>
            <a:spLocks noGrp="1"/>
          </p:cNvSpPr>
          <p:nvPr>
            <p:ph type="dt" sz="half" idx="10"/>
          </p:nvPr>
        </p:nvSpPr>
        <p:spPr/>
        <p:txBody>
          <a:bodyPr/>
          <a:lstStyle/>
          <a:p>
            <a:fld id="{7BE8C8B9-745B-4632-9380-8D504A4AB06F}" type="datetimeFigureOut">
              <a:rPr lang="en-IN" smtClean="0"/>
              <a:t>21-01-2026</a:t>
            </a:fld>
            <a:endParaRPr lang="en-IN" dirty="0"/>
          </a:p>
        </p:txBody>
      </p:sp>
      <p:sp>
        <p:nvSpPr>
          <p:cNvPr id="5" name="Footer Placeholder 4">
            <a:extLst>
              <a:ext uri="{FF2B5EF4-FFF2-40B4-BE49-F238E27FC236}">
                <a16:creationId xmlns:a16="http://schemas.microsoft.com/office/drawing/2014/main" id="{1496D8CF-318C-4428-9D7F-275C91B251E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A0432A3-C7C1-4EF5-8885-F775B74E4DD0}"/>
              </a:ext>
            </a:extLst>
          </p:cNvPr>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142907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C6F918-5B59-4D15-8499-E16C1E0B56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2C12A9-3AAD-422E-8605-179B0D0365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641B75-1A72-4C81-B909-F77B6B8E124F}"/>
              </a:ext>
            </a:extLst>
          </p:cNvPr>
          <p:cNvSpPr>
            <a:spLocks noGrp="1"/>
          </p:cNvSpPr>
          <p:nvPr>
            <p:ph type="dt" sz="half" idx="10"/>
          </p:nvPr>
        </p:nvSpPr>
        <p:spPr/>
        <p:txBody>
          <a:bodyPr/>
          <a:lstStyle/>
          <a:p>
            <a:fld id="{7BE8C8B9-745B-4632-9380-8D504A4AB06F}" type="datetimeFigureOut">
              <a:rPr lang="en-IN" smtClean="0"/>
              <a:t>21-01-2026</a:t>
            </a:fld>
            <a:endParaRPr lang="en-IN" dirty="0"/>
          </a:p>
        </p:txBody>
      </p:sp>
      <p:sp>
        <p:nvSpPr>
          <p:cNvPr id="5" name="Footer Placeholder 4">
            <a:extLst>
              <a:ext uri="{FF2B5EF4-FFF2-40B4-BE49-F238E27FC236}">
                <a16:creationId xmlns:a16="http://schemas.microsoft.com/office/drawing/2014/main" id="{D5F3A4FE-71D7-4B29-B4E6-06041FF281B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DE55C9C-573A-4852-A6B3-FF53F323A870}"/>
              </a:ext>
            </a:extLst>
          </p:cNvPr>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3854663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B99B05-9B36-4ECA-826C-B26FBB9842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08B81C-FDD9-4FA3-ABFA-0559AEFDEC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8BA533-0B24-47F4-ABFC-DD295C18F0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E8C8B9-745B-4632-9380-8D504A4AB06F}" type="datetimeFigureOut">
              <a:rPr lang="en-IN" smtClean="0"/>
              <a:t>21-01-2026</a:t>
            </a:fld>
            <a:endParaRPr lang="en-IN" dirty="0"/>
          </a:p>
        </p:txBody>
      </p:sp>
      <p:sp>
        <p:nvSpPr>
          <p:cNvPr id="5" name="Footer Placeholder 4">
            <a:extLst>
              <a:ext uri="{FF2B5EF4-FFF2-40B4-BE49-F238E27FC236}">
                <a16:creationId xmlns:a16="http://schemas.microsoft.com/office/drawing/2014/main" id="{548EFCA0-2B88-4E52-94A6-578AB1E989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45C3B87C-38A6-4B3D-B976-D8A8D780EC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A6D4BF-D48C-49CC-A47E-0CC5D8C860F3}" type="slidenum">
              <a:rPr lang="en-IN" smtClean="0"/>
              <a:t>‹#›</a:t>
            </a:fld>
            <a:endParaRPr lang="en-IN" dirty="0"/>
          </a:p>
        </p:txBody>
      </p:sp>
    </p:spTree>
    <p:extLst>
      <p:ext uri="{BB962C8B-B14F-4D97-AF65-F5344CB8AC3E}">
        <p14:creationId xmlns:p14="http://schemas.microsoft.com/office/powerpoint/2010/main" val="2183262568"/>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8F814-B611-41BE-90AF-5B7E1EC604F3}"/>
              </a:ext>
            </a:extLst>
          </p:cNvPr>
          <p:cNvSpPr>
            <a:spLocks noGrp="1"/>
          </p:cNvSpPr>
          <p:nvPr>
            <p:ph type="ctrTitle"/>
          </p:nvPr>
        </p:nvSpPr>
        <p:spPr>
          <a:xfrm>
            <a:off x="1524000" y="901149"/>
            <a:ext cx="9144000" cy="3790122"/>
          </a:xfrm>
        </p:spPr>
        <p:txBody>
          <a:bodyPr>
            <a:normAutofit/>
          </a:bodyPr>
          <a:lstStyle/>
          <a:p>
            <a:r>
              <a:rPr lang="en-IN" dirty="0">
                <a:latin typeface="system-ui"/>
              </a:rPr>
              <a:t>Sales</a:t>
            </a:r>
            <a:r>
              <a:rPr lang="en-IN" b="0" i="0" dirty="0">
                <a:effectLst/>
                <a:latin typeface="system-ui"/>
              </a:rPr>
              <a:t> Analysis 360 Project</a:t>
            </a:r>
            <a:br>
              <a:rPr lang="en-IN" b="0" i="0" dirty="0">
                <a:effectLst/>
                <a:latin typeface="system-ui"/>
              </a:rPr>
            </a:br>
            <a:r>
              <a:rPr lang="en-IN" b="0" i="0" dirty="0">
                <a:effectLst/>
                <a:latin typeface="system-ui"/>
              </a:rPr>
              <a:t>   </a:t>
            </a:r>
            <a:r>
              <a:rPr lang="en-IN" sz="3600" b="0" i="0" dirty="0">
                <a:effectLst/>
                <a:latin typeface="system-ui"/>
              </a:rPr>
              <a:t>Prepared By : </a:t>
            </a:r>
            <a:r>
              <a:rPr lang="en-IN" sz="3600" dirty="0">
                <a:latin typeface="system-ui"/>
              </a:rPr>
              <a:t>Akash deep</a:t>
            </a:r>
            <a:br>
              <a:rPr lang="en-IN" sz="3600" dirty="0">
                <a:latin typeface="system-ui"/>
              </a:rPr>
            </a:br>
            <a:r>
              <a:rPr lang="en-IN" sz="3600" dirty="0">
                <a:latin typeface="system-ui"/>
              </a:rPr>
              <a:t>End-to-End Sales Analytics</a:t>
            </a:r>
            <a:endParaRPr lang="en-IN" sz="3600" dirty="0"/>
          </a:p>
        </p:txBody>
      </p:sp>
    </p:spTree>
    <p:extLst>
      <p:ext uri="{BB962C8B-B14F-4D97-AF65-F5344CB8AC3E}">
        <p14:creationId xmlns:p14="http://schemas.microsoft.com/office/powerpoint/2010/main" val="2151236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CA150-8F08-7018-7061-4B2103DBEF63}"/>
              </a:ext>
            </a:extLst>
          </p:cNvPr>
          <p:cNvSpPr>
            <a:spLocks noGrp="1"/>
          </p:cNvSpPr>
          <p:nvPr>
            <p:ph type="title"/>
          </p:nvPr>
        </p:nvSpPr>
        <p:spPr/>
        <p:txBody>
          <a:bodyPr/>
          <a:lstStyle/>
          <a:p>
            <a:r>
              <a:rPr lang="en-IN" dirty="0">
                <a:solidFill>
                  <a:srgbClr val="FF0000"/>
                </a:solidFill>
                <a:latin typeface="Arial Narrow" panose="020B0606020202030204" pitchFamily="34" charset="0"/>
              </a:rPr>
              <a:t>Project Overview</a:t>
            </a:r>
          </a:p>
        </p:txBody>
      </p:sp>
      <p:sp>
        <p:nvSpPr>
          <p:cNvPr id="3" name="Content Placeholder 2">
            <a:extLst>
              <a:ext uri="{FF2B5EF4-FFF2-40B4-BE49-F238E27FC236}">
                <a16:creationId xmlns:a16="http://schemas.microsoft.com/office/drawing/2014/main" id="{8324FE3F-BB11-23E0-0E26-DD8EBEDC2CA3}"/>
              </a:ext>
            </a:extLst>
          </p:cNvPr>
          <p:cNvSpPr>
            <a:spLocks noGrp="1"/>
          </p:cNvSpPr>
          <p:nvPr>
            <p:ph idx="1"/>
          </p:nvPr>
        </p:nvSpPr>
        <p:spPr/>
        <p:txBody>
          <a:bodyPr/>
          <a:lstStyle/>
          <a:p>
            <a:r>
              <a:rPr lang="en-IN" dirty="0"/>
              <a:t>Comprehensive sales analytics solution covering:</a:t>
            </a:r>
          </a:p>
          <a:p>
            <a:r>
              <a:rPr lang="en-IN" dirty="0"/>
              <a:t>- Revenue &amp; profitability</a:t>
            </a:r>
          </a:p>
          <a:p>
            <a:r>
              <a:rPr lang="en-IN" dirty="0"/>
              <a:t>- Customer behaviour</a:t>
            </a:r>
          </a:p>
          <a:p>
            <a:r>
              <a:rPr lang="en-IN" dirty="0"/>
              <a:t>- Product &amp; category trends</a:t>
            </a:r>
          </a:p>
          <a:p>
            <a:r>
              <a:rPr lang="en-IN" dirty="0"/>
              <a:t>- Store, city &amp; region performance</a:t>
            </a:r>
          </a:p>
          <a:p>
            <a:r>
              <a:rPr lang="en-IN" dirty="0"/>
              <a:t>Data extracted using SQL and analysed using Python (EDA).</a:t>
            </a:r>
          </a:p>
          <a:p>
            <a:endParaRPr lang="en-IN" dirty="0"/>
          </a:p>
        </p:txBody>
      </p:sp>
    </p:spTree>
    <p:extLst>
      <p:ext uri="{BB962C8B-B14F-4D97-AF65-F5344CB8AC3E}">
        <p14:creationId xmlns:p14="http://schemas.microsoft.com/office/powerpoint/2010/main" val="1315516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C3726-D5B2-7393-35E3-2023AB83D557}"/>
              </a:ext>
            </a:extLst>
          </p:cNvPr>
          <p:cNvSpPr>
            <a:spLocks noGrp="1"/>
          </p:cNvSpPr>
          <p:nvPr>
            <p:ph type="title"/>
          </p:nvPr>
        </p:nvSpPr>
        <p:spPr/>
        <p:txBody>
          <a:bodyPr/>
          <a:lstStyle/>
          <a:p>
            <a:r>
              <a:rPr lang="en-IN" dirty="0">
                <a:solidFill>
                  <a:srgbClr val="FF0000"/>
                </a:solidFill>
                <a:latin typeface="Arial Black" panose="020B0A04020102020204" pitchFamily="34" charset="0"/>
              </a:rPr>
              <a:t>Objectives</a:t>
            </a:r>
          </a:p>
        </p:txBody>
      </p:sp>
      <p:sp>
        <p:nvSpPr>
          <p:cNvPr id="3" name="Content Placeholder 2">
            <a:extLst>
              <a:ext uri="{FF2B5EF4-FFF2-40B4-BE49-F238E27FC236}">
                <a16:creationId xmlns:a16="http://schemas.microsoft.com/office/drawing/2014/main" id="{02830D4A-5580-1869-48C2-4129504DCDE0}"/>
              </a:ext>
            </a:extLst>
          </p:cNvPr>
          <p:cNvSpPr>
            <a:spLocks noGrp="1"/>
          </p:cNvSpPr>
          <p:nvPr>
            <p:ph idx="1"/>
          </p:nvPr>
        </p:nvSpPr>
        <p:spPr/>
        <p:txBody>
          <a:bodyPr/>
          <a:lstStyle/>
          <a:p>
            <a:r>
              <a:rPr lang="en-US" dirty="0"/>
              <a:t>- Understand sales performance across products &amp; regions</a:t>
            </a:r>
          </a:p>
          <a:p>
            <a:r>
              <a:rPr lang="en-US" dirty="0"/>
              <a:t>- Identify growth opportunities &amp; inefficiencies</a:t>
            </a:r>
          </a:p>
          <a:p>
            <a:r>
              <a:rPr lang="en-US" dirty="0"/>
              <a:t>- Analyze customer purchasing &amp; return behavior</a:t>
            </a:r>
          </a:p>
          <a:p>
            <a:r>
              <a:rPr lang="en-US" dirty="0"/>
              <a:t>- Support data-driven business decisions</a:t>
            </a:r>
          </a:p>
          <a:p>
            <a:r>
              <a:rPr lang="en-US" dirty="0"/>
              <a:t>Highlight customer purchase patterns.</a:t>
            </a:r>
            <a:endParaRPr lang="en-IN" dirty="0"/>
          </a:p>
        </p:txBody>
      </p:sp>
    </p:spTree>
    <p:extLst>
      <p:ext uri="{BB962C8B-B14F-4D97-AF65-F5344CB8AC3E}">
        <p14:creationId xmlns:p14="http://schemas.microsoft.com/office/powerpoint/2010/main" val="1724227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E9CDC-7130-B1F0-6ECC-3FE79277D68F}"/>
              </a:ext>
            </a:extLst>
          </p:cNvPr>
          <p:cNvSpPr>
            <a:spLocks noGrp="1"/>
          </p:cNvSpPr>
          <p:nvPr>
            <p:ph type="title"/>
          </p:nvPr>
        </p:nvSpPr>
        <p:spPr/>
        <p:txBody>
          <a:bodyPr/>
          <a:lstStyle/>
          <a:p>
            <a:r>
              <a:rPr lang="en-IN" dirty="0">
                <a:solidFill>
                  <a:srgbClr val="FF0000"/>
                </a:solidFill>
                <a:latin typeface="Arial Narrow" panose="020B0606020202030204" pitchFamily="34" charset="0"/>
              </a:rPr>
              <a:t>Tools &amp; Technologies</a:t>
            </a:r>
          </a:p>
        </p:txBody>
      </p:sp>
      <p:sp>
        <p:nvSpPr>
          <p:cNvPr id="3" name="Content Placeholder 2">
            <a:extLst>
              <a:ext uri="{FF2B5EF4-FFF2-40B4-BE49-F238E27FC236}">
                <a16:creationId xmlns:a16="http://schemas.microsoft.com/office/drawing/2014/main" id="{49DBC028-D4DC-E172-92BB-969BF52E67C4}"/>
              </a:ext>
            </a:extLst>
          </p:cNvPr>
          <p:cNvSpPr>
            <a:spLocks noGrp="1"/>
          </p:cNvSpPr>
          <p:nvPr>
            <p:ph idx="1"/>
          </p:nvPr>
        </p:nvSpPr>
        <p:spPr>
          <a:xfrm>
            <a:off x="838200" y="1825625"/>
            <a:ext cx="10515600" cy="2823377"/>
          </a:xfrm>
        </p:spPr>
        <p:txBody>
          <a:bodyPr/>
          <a:lstStyle/>
          <a:p>
            <a:r>
              <a:rPr lang="en-IN" dirty="0"/>
              <a:t>- SQL (Data Extraction)</a:t>
            </a:r>
          </a:p>
          <a:p>
            <a:r>
              <a:rPr lang="en-IN" dirty="0"/>
              <a:t>- Python (Pandas, NumPy)</a:t>
            </a:r>
          </a:p>
          <a:p>
            <a:r>
              <a:rPr lang="en-IN" dirty="0"/>
              <a:t>- Matplotlib &amp; Seaborn (Visualization)</a:t>
            </a:r>
          </a:p>
          <a:p>
            <a:r>
              <a:rPr lang="en-IN" dirty="0"/>
              <a:t>- </a:t>
            </a:r>
            <a:r>
              <a:rPr lang="en-IN" dirty="0" err="1"/>
              <a:t>Jupyter</a:t>
            </a:r>
            <a:r>
              <a:rPr lang="en-IN" dirty="0"/>
              <a:t> Notebook (EDA)</a:t>
            </a:r>
          </a:p>
          <a:p>
            <a:r>
              <a:rPr lang="en-IN" dirty="0"/>
              <a:t>- PowerPoint (Insights Presentation)</a:t>
            </a:r>
          </a:p>
          <a:p>
            <a:endParaRPr lang="en-IN" dirty="0"/>
          </a:p>
        </p:txBody>
      </p:sp>
    </p:spTree>
    <p:extLst>
      <p:ext uri="{BB962C8B-B14F-4D97-AF65-F5344CB8AC3E}">
        <p14:creationId xmlns:p14="http://schemas.microsoft.com/office/powerpoint/2010/main" val="1300011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C848A-43CE-E4B4-F196-927FBCF48743}"/>
              </a:ext>
            </a:extLst>
          </p:cNvPr>
          <p:cNvSpPr>
            <a:spLocks noGrp="1"/>
          </p:cNvSpPr>
          <p:nvPr>
            <p:ph type="title"/>
          </p:nvPr>
        </p:nvSpPr>
        <p:spPr/>
        <p:txBody>
          <a:bodyPr/>
          <a:lstStyle/>
          <a:p>
            <a:r>
              <a:rPr lang="en-IN" dirty="0">
                <a:solidFill>
                  <a:schemeClr val="accent2">
                    <a:lumMod val="75000"/>
                  </a:schemeClr>
                </a:solidFill>
                <a:latin typeface="Arial Narrow" panose="020B0606020202030204" pitchFamily="34" charset="0"/>
              </a:rPr>
              <a:t>Data Sources</a:t>
            </a:r>
            <a:endParaRPr lang="en-IN"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B1002AEC-4B92-F594-EF66-3AE6A9E4B9C9}"/>
              </a:ext>
            </a:extLst>
          </p:cNvPr>
          <p:cNvSpPr>
            <a:spLocks noGrp="1"/>
          </p:cNvSpPr>
          <p:nvPr>
            <p:ph idx="1"/>
          </p:nvPr>
        </p:nvSpPr>
        <p:spPr/>
        <p:txBody>
          <a:bodyPr/>
          <a:lstStyle/>
          <a:p>
            <a:r>
              <a:rPr lang="en-IN" dirty="0"/>
              <a:t>Orders</a:t>
            </a:r>
          </a:p>
          <a:p>
            <a:r>
              <a:rPr lang="en-IN" dirty="0"/>
              <a:t>Product Master</a:t>
            </a:r>
          </a:p>
          <a:p>
            <a:r>
              <a:rPr lang="en-IN" dirty="0"/>
              <a:t>Customer Master</a:t>
            </a:r>
          </a:p>
          <a:p>
            <a:r>
              <a:rPr lang="en-IN" dirty="0"/>
              <a:t>Store Master</a:t>
            </a:r>
          </a:p>
          <a:p>
            <a:r>
              <a:rPr lang="en-IN" dirty="0"/>
              <a:t> Returns. </a:t>
            </a:r>
            <a:endParaRPr lang="en-US" dirty="0"/>
          </a:p>
          <a:p>
            <a:endParaRPr lang="en-IN" dirty="0"/>
          </a:p>
        </p:txBody>
      </p:sp>
    </p:spTree>
    <p:extLst>
      <p:ext uri="{BB962C8B-B14F-4D97-AF65-F5344CB8AC3E}">
        <p14:creationId xmlns:p14="http://schemas.microsoft.com/office/powerpoint/2010/main" val="3471018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2C00B-EB8F-4499-8849-692DF8562789}"/>
              </a:ext>
            </a:extLst>
          </p:cNvPr>
          <p:cNvSpPr>
            <a:spLocks noGrp="1"/>
          </p:cNvSpPr>
          <p:nvPr>
            <p:ph type="title"/>
          </p:nvPr>
        </p:nvSpPr>
        <p:spPr>
          <a:xfrm>
            <a:off x="677334" y="609600"/>
            <a:ext cx="8596668" cy="1205948"/>
          </a:xfrm>
        </p:spPr>
        <p:txBody>
          <a:bodyPr>
            <a:normAutofit/>
          </a:bodyPr>
          <a:lstStyle/>
          <a:p>
            <a:r>
              <a:rPr lang="en-US" sz="3200" b="1" dirty="0"/>
              <a:t>2.KPIs: Sales, Margin%, GMV, AOV, Units Sold, Repeat Rate, Return Rate</a:t>
            </a:r>
            <a:endParaRPr lang="en-IN" sz="3200" b="1" dirty="0"/>
          </a:p>
        </p:txBody>
      </p:sp>
      <p:sp>
        <p:nvSpPr>
          <p:cNvPr id="3" name="Content Placeholder 2">
            <a:extLst>
              <a:ext uri="{FF2B5EF4-FFF2-40B4-BE49-F238E27FC236}">
                <a16:creationId xmlns:a16="http://schemas.microsoft.com/office/drawing/2014/main" id="{EEE2B59D-A220-495F-996B-79F2F3CBFDCF}"/>
              </a:ext>
            </a:extLst>
          </p:cNvPr>
          <p:cNvSpPr>
            <a:spLocks noGrp="1"/>
          </p:cNvSpPr>
          <p:nvPr>
            <p:ph idx="1"/>
          </p:nvPr>
        </p:nvSpPr>
        <p:spPr/>
        <p:txBody>
          <a:bodyPr>
            <a:normAutofit/>
          </a:bodyPr>
          <a:lstStyle/>
          <a:p>
            <a:r>
              <a:rPr lang="en-US" sz="2000" dirty="0">
                <a:solidFill>
                  <a:srgbClr val="FF0000"/>
                </a:solidFill>
              </a:rPr>
              <a:t>Total Sales</a:t>
            </a:r>
            <a:r>
              <a:rPr lang="en-US" sz="2000" dirty="0"/>
              <a:t>: 108803550.87</a:t>
            </a:r>
          </a:p>
          <a:p>
            <a:r>
              <a:rPr lang="en-US" sz="2000" dirty="0">
                <a:solidFill>
                  <a:srgbClr val="FF0000"/>
                </a:solidFill>
              </a:rPr>
              <a:t>Total GMV: </a:t>
            </a:r>
            <a:r>
              <a:rPr lang="en-US" sz="2000" dirty="0"/>
              <a:t>128004177.66000001 </a:t>
            </a:r>
          </a:p>
          <a:p>
            <a:r>
              <a:rPr lang="en-US" sz="2000" dirty="0">
                <a:solidFill>
                  <a:srgbClr val="FF0000"/>
                </a:solidFill>
              </a:rPr>
              <a:t>Units Sold: </a:t>
            </a:r>
            <a:r>
              <a:rPr lang="en-US" sz="2000" dirty="0"/>
              <a:t>50235</a:t>
            </a:r>
          </a:p>
          <a:p>
            <a:r>
              <a:rPr lang="en-US" sz="2000" dirty="0">
                <a:solidFill>
                  <a:srgbClr val="FF0000"/>
                </a:solidFill>
              </a:rPr>
              <a:t>AOV: </a:t>
            </a:r>
            <a:r>
              <a:rPr lang="en-US" sz="2000" dirty="0"/>
              <a:t>5440.1775435</a:t>
            </a:r>
          </a:p>
          <a:p>
            <a:r>
              <a:rPr lang="en-US" sz="2000" dirty="0">
                <a:solidFill>
                  <a:srgbClr val="FF0000"/>
                </a:solidFill>
              </a:rPr>
              <a:t>Margin %: </a:t>
            </a:r>
            <a:r>
              <a:rPr lang="en-US" sz="2000" dirty="0"/>
              <a:t>-15.47</a:t>
            </a:r>
          </a:p>
          <a:p>
            <a:r>
              <a:rPr lang="en-US" sz="2000" dirty="0">
                <a:solidFill>
                  <a:srgbClr val="FF0000"/>
                </a:solidFill>
              </a:rPr>
              <a:t>Repeat Rate %: </a:t>
            </a:r>
            <a:r>
              <a:rPr lang="en-US" sz="2000" dirty="0"/>
              <a:t>92.60</a:t>
            </a:r>
          </a:p>
          <a:p>
            <a:r>
              <a:rPr lang="en-US" sz="2000" dirty="0">
                <a:solidFill>
                  <a:srgbClr val="FF0000"/>
                </a:solidFill>
              </a:rPr>
              <a:t>Return Rate %: </a:t>
            </a:r>
            <a:r>
              <a:rPr lang="en-US" sz="2000" dirty="0"/>
              <a:t>7.47</a:t>
            </a:r>
            <a:endParaRPr lang="en-IN" sz="2000" dirty="0"/>
          </a:p>
        </p:txBody>
      </p:sp>
    </p:spTree>
    <p:extLst>
      <p:ext uri="{BB962C8B-B14F-4D97-AF65-F5344CB8AC3E}">
        <p14:creationId xmlns:p14="http://schemas.microsoft.com/office/powerpoint/2010/main" val="3538517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B9F8B-BBA8-4499-9DCD-4ABFC6BDCDEF}"/>
              </a:ext>
            </a:extLst>
          </p:cNvPr>
          <p:cNvSpPr>
            <a:spLocks noGrp="1"/>
          </p:cNvSpPr>
          <p:nvPr>
            <p:ph type="title"/>
          </p:nvPr>
        </p:nvSpPr>
        <p:spPr>
          <a:xfrm>
            <a:off x="677333" y="609599"/>
            <a:ext cx="10083431" cy="1696279"/>
          </a:xfrm>
        </p:spPr>
        <p:txBody>
          <a:bodyPr>
            <a:normAutofit/>
          </a:bodyPr>
          <a:lstStyle/>
          <a:p>
            <a:pPr algn="ctr"/>
            <a:r>
              <a:rPr lang="en-US" sz="2000" b="1" dirty="0"/>
              <a:t>Seasonal Trend: Revenue by Month</a:t>
            </a:r>
            <a:r>
              <a:rPr lang="en-US" sz="2000" dirty="0"/>
              <a:t>:</a:t>
            </a:r>
            <a:br>
              <a:rPr lang="en-US" sz="2000" dirty="0"/>
            </a:br>
            <a:r>
              <a:rPr lang="en-US" sz="2000" b="1" dirty="0"/>
              <a:t> </a:t>
            </a:r>
            <a:br>
              <a:rPr lang="en-US" sz="2000" b="1" dirty="0"/>
            </a:br>
            <a:r>
              <a:rPr lang="en-US" sz="1600" dirty="0"/>
              <a:t>January 9055508.48                         February 8298269.92                March 9471519.30 </a:t>
            </a:r>
            <a:br>
              <a:rPr lang="en-US" sz="1600" dirty="0"/>
            </a:br>
            <a:r>
              <a:rPr lang="en-US" sz="1600" dirty="0"/>
              <a:t>April 8804584.72                              May 9464628.24                       June 8931666.70</a:t>
            </a:r>
            <a:br>
              <a:rPr lang="en-US" sz="1600" dirty="0"/>
            </a:br>
            <a:r>
              <a:rPr lang="en-US" sz="1600" dirty="0"/>
              <a:t>July 9163736.81                               August 9229816.43                   September 9177392.63</a:t>
            </a:r>
            <a:br>
              <a:rPr lang="en-US" sz="1600" dirty="0"/>
            </a:br>
            <a:r>
              <a:rPr lang="en-US" sz="1600" dirty="0"/>
              <a:t>October 9322530.67                         November 8987982.99              December 9006213.03 </a:t>
            </a:r>
            <a:endParaRPr lang="en-IN" sz="1600" dirty="0"/>
          </a:p>
        </p:txBody>
      </p:sp>
      <p:pic>
        <p:nvPicPr>
          <p:cNvPr id="1026" name="Picture 2">
            <a:extLst>
              <a:ext uri="{FF2B5EF4-FFF2-40B4-BE49-F238E27FC236}">
                <a16:creationId xmlns:a16="http://schemas.microsoft.com/office/drawing/2014/main" id="{447044EC-60D6-4A17-BBCC-2B1C93809A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388" y="2451651"/>
            <a:ext cx="10327377" cy="410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586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D30D2-69CD-41A6-91D6-454BBF632A80}"/>
              </a:ext>
            </a:extLst>
          </p:cNvPr>
          <p:cNvSpPr>
            <a:spLocks noGrp="1"/>
          </p:cNvSpPr>
          <p:nvPr>
            <p:ph type="title"/>
          </p:nvPr>
        </p:nvSpPr>
        <p:spPr>
          <a:xfrm>
            <a:off x="119271" y="609600"/>
            <a:ext cx="10338167" cy="622852"/>
          </a:xfrm>
        </p:spPr>
        <p:txBody>
          <a:bodyPr>
            <a:normAutofit/>
          </a:bodyPr>
          <a:lstStyle/>
          <a:p>
            <a:pPr algn="ctr"/>
            <a:r>
              <a:rPr lang="en-US" sz="3200" b="1" dirty="0">
                <a:solidFill>
                  <a:srgbClr val="FF0000"/>
                </a:solidFill>
              </a:rPr>
              <a:t>Seasonal Trend: Revenue by Week Day :</a:t>
            </a:r>
            <a:endParaRPr lang="en-IN" sz="3200" b="1" dirty="0">
              <a:solidFill>
                <a:srgbClr val="FF0000"/>
              </a:solidFill>
            </a:endParaRPr>
          </a:p>
        </p:txBody>
      </p:sp>
      <p:sp>
        <p:nvSpPr>
          <p:cNvPr id="5" name="TextBox 4">
            <a:extLst>
              <a:ext uri="{FF2B5EF4-FFF2-40B4-BE49-F238E27FC236}">
                <a16:creationId xmlns:a16="http://schemas.microsoft.com/office/drawing/2014/main" id="{E93775C1-14C1-466E-AB64-A848E2AE11F9}"/>
              </a:ext>
            </a:extLst>
          </p:cNvPr>
          <p:cNvSpPr txBox="1"/>
          <p:nvPr/>
        </p:nvSpPr>
        <p:spPr>
          <a:xfrm>
            <a:off x="677333" y="5528317"/>
            <a:ext cx="9222042" cy="984885"/>
          </a:xfrm>
          <a:prstGeom prst="rect">
            <a:avLst/>
          </a:prstGeom>
          <a:noFill/>
        </p:spPr>
        <p:txBody>
          <a:bodyPr wrap="square">
            <a:spAutoFit/>
          </a:bodyPr>
          <a:lstStyle/>
          <a:p>
            <a:endParaRPr lang="en-US" dirty="0"/>
          </a:p>
          <a:p>
            <a:r>
              <a:rPr lang="en-US" sz="2000" dirty="0">
                <a:solidFill>
                  <a:schemeClr val="tx1">
                    <a:lumMod val="95000"/>
                    <a:lumOff val="5000"/>
                  </a:schemeClr>
                </a:solidFill>
                <a:latin typeface="Arial Narrow" panose="020B0606020202030204" pitchFamily="34" charset="0"/>
              </a:rPr>
              <a:t>Revenue peaks on weekends and mid-week, particularly on Wednesdays and Thursdays, reflecting increased consumer engagement and buying behavior</a:t>
            </a:r>
            <a:endParaRPr lang="en-IN" sz="2000" dirty="0">
              <a:solidFill>
                <a:schemeClr val="tx1">
                  <a:lumMod val="95000"/>
                  <a:lumOff val="5000"/>
                </a:schemeClr>
              </a:solidFill>
              <a:latin typeface="Arial Narrow" panose="020B0606020202030204" pitchFamily="34" charset="0"/>
            </a:endParaRPr>
          </a:p>
        </p:txBody>
      </p:sp>
      <p:pic>
        <p:nvPicPr>
          <p:cNvPr id="2050" name="Picture 2">
            <a:extLst>
              <a:ext uri="{FF2B5EF4-FFF2-40B4-BE49-F238E27FC236}">
                <a16:creationId xmlns:a16="http://schemas.microsoft.com/office/drawing/2014/main" id="{708920BB-B892-4188-A543-4D2A18837E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271" y="1232451"/>
            <a:ext cx="9780104" cy="4530173"/>
          </a:xfrm>
          <a:prstGeom prst="rect">
            <a:avLst/>
          </a:prstGeom>
          <a:noFill/>
          <a:ln>
            <a:solidFill>
              <a:schemeClr val="accent1">
                <a:lumMod val="60000"/>
                <a:lumOff val="40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1973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30D6F6-70B4-4F48-956E-D5EFF638AE7A}"/>
              </a:ext>
            </a:extLst>
          </p:cNvPr>
          <p:cNvSpPr>
            <a:spLocks noGrp="1"/>
          </p:cNvSpPr>
          <p:nvPr>
            <p:ph idx="1"/>
          </p:nvPr>
        </p:nvSpPr>
        <p:spPr>
          <a:xfrm>
            <a:off x="234354" y="127779"/>
            <a:ext cx="11210084" cy="5643135"/>
          </a:xfrm>
        </p:spPr>
        <p:txBody>
          <a:bodyPr>
            <a:normAutofit/>
          </a:bodyPr>
          <a:lstStyle/>
          <a:p>
            <a:pPr marL="0" indent="0" algn="ctr">
              <a:buNone/>
            </a:pPr>
            <a:r>
              <a:rPr lang="en-IN" sz="2400" b="1" dirty="0"/>
              <a:t>Business Requirement</a:t>
            </a:r>
            <a:r>
              <a:rPr lang="en-IN" dirty="0"/>
              <a:t>:</a:t>
            </a:r>
          </a:p>
          <a:p>
            <a:r>
              <a:rPr lang="en-US" sz="2000" dirty="0"/>
              <a:t>Evaluating top and bottom SKUs provides actionable insights to maximize inventory efficiency, strengthen marketing focus, and drive product innovation.</a:t>
            </a:r>
            <a:endParaRPr lang="en-US" sz="2000" dirty="0">
              <a:solidFill>
                <a:schemeClr val="accent1"/>
              </a:solidFill>
            </a:endParaRPr>
          </a:p>
          <a:p>
            <a:pPr marL="0" indent="0">
              <a:buNone/>
            </a:pPr>
            <a:endParaRPr lang="en-US" sz="2400" dirty="0"/>
          </a:p>
          <a:p>
            <a:pPr marL="0" indent="0">
              <a:buNone/>
            </a:pPr>
            <a:endParaRPr lang="en-US" sz="2400" dirty="0"/>
          </a:p>
          <a:p>
            <a:pPr marL="0" indent="0">
              <a:buNone/>
            </a:pPr>
            <a:endParaRPr lang="en-US" sz="2400" dirty="0"/>
          </a:p>
        </p:txBody>
      </p:sp>
      <p:pic>
        <p:nvPicPr>
          <p:cNvPr id="1026" name="Picture 2">
            <a:extLst>
              <a:ext uri="{FF2B5EF4-FFF2-40B4-BE49-F238E27FC236}">
                <a16:creationId xmlns:a16="http://schemas.microsoft.com/office/drawing/2014/main" id="{B072C396-C8A5-40A4-92A8-D4C84976B6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63" y="1336178"/>
            <a:ext cx="5844209" cy="44924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0B357A9-F7B4-4439-A292-EFB4039ECD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1805" y="1468701"/>
            <a:ext cx="5257800" cy="422744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5B6C929-B5A7-4146-9135-E3215D135AEE}"/>
              </a:ext>
            </a:extLst>
          </p:cNvPr>
          <p:cNvSpPr txBox="1"/>
          <p:nvPr/>
        </p:nvSpPr>
        <p:spPr>
          <a:xfrm>
            <a:off x="347870" y="5828666"/>
            <a:ext cx="5907158" cy="923330"/>
          </a:xfrm>
          <a:prstGeom prst="rect">
            <a:avLst/>
          </a:prstGeom>
          <a:noFill/>
        </p:spPr>
        <p:txBody>
          <a:bodyPr wrap="square">
            <a:spAutoFit/>
          </a:bodyPr>
          <a:lstStyle/>
          <a:p>
            <a:pPr marL="285750" indent="-285750">
              <a:buFont typeface="Arial" panose="020B0604020202020204" pitchFamily="34" charset="0"/>
              <a:buChar char="•"/>
            </a:pPr>
            <a:r>
              <a:rPr lang="en-US" dirty="0"/>
              <a:t>Product_191, Product_383, and Product_124 consistently outperform other SKUs, reflecting strong customer demand and market acceptance.</a:t>
            </a:r>
            <a:endParaRPr lang="en-IN" dirty="0">
              <a:solidFill>
                <a:schemeClr val="accent1">
                  <a:lumMod val="75000"/>
                </a:schemeClr>
              </a:solidFill>
            </a:endParaRPr>
          </a:p>
        </p:txBody>
      </p:sp>
      <p:sp>
        <p:nvSpPr>
          <p:cNvPr id="8" name="TextBox 7">
            <a:extLst>
              <a:ext uri="{FF2B5EF4-FFF2-40B4-BE49-F238E27FC236}">
                <a16:creationId xmlns:a16="http://schemas.microsoft.com/office/drawing/2014/main" id="{09F47477-1209-483A-9386-8FC9F1BFD962}"/>
              </a:ext>
            </a:extLst>
          </p:cNvPr>
          <p:cNvSpPr txBox="1"/>
          <p:nvPr/>
        </p:nvSpPr>
        <p:spPr>
          <a:xfrm>
            <a:off x="6414056" y="5857331"/>
            <a:ext cx="5502020" cy="923330"/>
          </a:xfrm>
          <a:prstGeom prst="rect">
            <a:avLst/>
          </a:prstGeom>
          <a:noFill/>
        </p:spPr>
        <p:txBody>
          <a:bodyPr wrap="square">
            <a:spAutoFit/>
          </a:bodyPr>
          <a:lstStyle/>
          <a:p>
            <a:pPr marL="285750" indent="-285750">
              <a:buFont typeface="Arial" panose="020B0604020202020204" pitchFamily="34" charset="0"/>
              <a:buChar char="•"/>
            </a:pPr>
            <a:r>
              <a:rPr lang="en-US" dirty="0"/>
              <a:t>Immediate action is required for bottom-performing products to improve performance through repricing, repositioning, or discontinuation</a:t>
            </a:r>
            <a:endParaRPr lang="en-IN" dirty="0">
              <a:solidFill>
                <a:srgbClr val="FFFF00"/>
              </a:solidFill>
            </a:endParaRPr>
          </a:p>
        </p:txBody>
      </p:sp>
    </p:spTree>
    <p:extLst>
      <p:ext uri="{BB962C8B-B14F-4D97-AF65-F5344CB8AC3E}">
        <p14:creationId xmlns:p14="http://schemas.microsoft.com/office/powerpoint/2010/main" val="2596925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D6281-9AD5-422C-BAA4-15F1063FA1E3}"/>
              </a:ext>
            </a:extLst>
          </p:cNvPr>
          <p:cNvSpPr>
            <a:spLocks noGrp="1"/>
          </p:cNvSpPr>
          <p:nvPr>
            <p:ph type="title"/>
          </p:nvPr>
        </p:nvSpPr>
        <p:spPr>
          <a:xfrm>
            <a:off x="182880" y="0"/>
            <a:ext cx="10657398" cy="1166191"/>
          </a:xfrm>
        </p:spPr>
        <p:txBody>
          <a:bodyPr>
            <a:normAutofit/>
          </a:bodyPr>
          <a:lstStyle/>
          <a:p>
            <a:r>
              <a:rPr lang="en-IN" sz="2700" b="1" dirty="0">
                <a:solidFill>
                  <a:srgbClr val="FF0000"/>
                </a:solidFill>
              </a:rPr>
              <a:t>Category-wise Revenue</a:t>
            </a:r>
            <a:br>
              <a:rPr lang="en-IN" sz="2000" b="1" dirty="0"/>
            </a:br>
            <a:r>
              <a:rPr lang="en-US" sz="2000" dirty="0">
                <a:latin typeface="+mn-lt"/>
              </a:rPr>
              <a:t>Fashion categories show strong performance, whereas the electronics category underperforms and warrants detailed root-cause analysis</a:t>
            </a:r>
            <a:r>
              <a:rPr lang="en-IN" sz="2000" dirty="0">
                <a:latin typeface="+mn-lt"/>
              </a:rPr>
              <a:t> </a:t>
            </a:r>
          </a:p>
        </p:txBody>
      </p:sp>
      <p:pic>
        <p:nvPicPr>
          <p:cNvPr id="4" name="Picture 2">
            <a:extLst>
              <a:ext uri="{FF2B5EF4-FFF2-40B4-BE49-F238E27FC236}">
                <a16:creationId xmlns:a16="http://schemas.microsoft.com/office/drawing/2014/main" id="{01584874-DC07-4550-A5C7-DABD6A1B81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 y="1012532"/>
            <a:ext cx="6679096" cy="255371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CB1C1BC-0C4E-4CE4-80B6-135813FEB9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 y="4167960"/>
            <a:ext cx="6679096" cy="279620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8C80B51-BE2F-2324-0A68-132A563FF416}"/>
              </a:ext>
            </a:extLst>
          </p:cNvPr>
          <p:cNvSpPr txBox="1"/>
          <p:nvPr/>
        </p:nvSpPr>
        <p:spPr>
          <a:xfrm>
            <a:off x="0" y="3490852"/>
            <a:ext cx="11906451" cy="677108"/>
          </a:xfrm>
          <a:prstGeom prst="rect">
            <a:avLst/>
          </a:prstGeom>
          <a:noFill/>
        </p:spPr>
        <p:txBody>
          <a:bodyPr wrap="square">
            <a:spAutoFit/>
          </a:bodyPr>
          <a:lstStyle/>
          <a:p>
            <a:r>
              <a:rPr lang="en-US" sz="2000" dirty="0">
                <a:solidFill>
                  <a:srgbClr val="FF0000"/>
                </a:solidFill>
              </a:rPr>
              <a:t>Brand – Wise Revenue : </a:t>
            </a:r>
            <a:r>
              <a:rPr lang="en-US" dirty="0"/>
              <a:t>Brand B demonstrates strong revenue performance, whereas Brand D lags behind Brand A and requires in-depth root-cause analysis to identify improvement opportunities</a:t>
            </a:r>
          </a:p>
        </p:txBody>
      </p:sp>
    </p:spTree>
    <p:extLst>
      <p:ext uri="{BB962C8B-B14F-4D97-AF65-F5344CB8AC3E}">
        <p14:creationId xmlns:p14="http://schemas.microsoft.com/office/powerpoint/2010/main" val="1999399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4C56-89E2-450C-AF18-63FC7C174551}"/>
              </a:ext>
            </a:extLst>
          </p:cNvPr>
          <p:cNvSpPr>
            <a:spLocks noGrp="1"/>
          </p:cNvSpPr>
          <p:nvPr>
            <p:ph type="title"/>
          </p:nvPr>
        </p:nvSpPr>
        <p:spPr>
          <a:xfrm>
            <a:off x="442762" y="365126"/>
            <a:ext cx="3267847" cy="3475354"/>
          </a:xfrm>
        </p:spPr>
        <p:txBody>
          <a:bodyPr>
            <a:normAutofit/>
          </a:bodyPr>
          <a:lstStyle/>
          <a:p>
            <a:r>
              <a:rPr lang="en-IN" sz="2700" b="1" i="0" dirty="0">
                <a:solidFill>
                  <a:srgbClr val="FF0000"/>
                </a:solidFill>
                <a:effectLst/>
                <a:latin typeface="Arial Narrow" panose="020B0606020202030204" pitchFamily="34" charset="0"/>
                <a:cs typeface="Times New Roman" panose="02020603050405020304" pitchFamily="18" charset="0"/>
              </a:rPr>
              <a:t>Store &amp; Region Analysis :</a:t>
            </a:r>
            <a:br>
              <a:rPr lang="en-IN" sz="2700" b="1" i="0" dirty="0">
                <a:solidFill>
                  <a:srgbClr val="FF0000"/>
                </a:solidFill>
                <a:effectLst/>
                <a:cs typeface="Times New Roman" panose="02020603050405020304" pitchFamily="18" charset="0"/>
              </a:rPr>
            </a:br>
            <a:br>
              <a:rPr lang="en-IN" sz="2400" b="1" i="0" dirty="0">
                <a:effectLst/>
                <a:latin typeface="Times New Roman" panose="02020603050405020304" pitchFamily="18" charset="0"/>
                <a:cs typeface="Times New Roman" panose="02020603050405020304" pitchFamily="18" charset="0"/>
              </a:rPr>
            </a:br>
            <a:r>
              <a:rPr lang="en-US" sz="2000" dirty="0">
                <a:latin typeface="+mn-lt"/>
              </a:rPr>
              <a:t>The consistent strong performance of Store_18, Store_145, and Store_3 highlights their critical role in driving overall business revenue</a:t>
            </a:r>
            <a:r>
              <a:rPr lang="en-US" sz="1800" dirty="0"/>
              <a:t>.</a:t>
            </a:r>
            <a:br>
              <a:rPr lang="en-IN" sz="2200" b="1" i="0" dirty="0">
                <a:effectLst/>
                <a:cs typeface="Times New Roman" panose="02020603050405020304" pitchFamily="18" charset="0"/>
              </a:rPr>
            </a:br>
            <a:r>
              <a:rPr lang="en-IN" sz="2400" b="1" i="0" dirty="0">
                <a:effectLst/>
                <a:latin typeface="Times New Roman" panose="02020603050405020304" pitchFamily="18" charset="0"/>
                <a:cs typeface="Times New Roman" panose="02020603050405020304" pitchFamily="18" charset="0"/>
              </a:rPr>
              <a:t> </a:t>
            </a:r>
            <a:br>
              <a:rPr lang="en-IN" sz="1100" b="0" i="0" dirty="0">
                <a:effectLst/>
                <a:latin typeface="system-ui"/>
              </a:rPr>
            </a:br>
            <a:endParaRPr lang="en-IN" sz="2000" dirty="0">
              <a:latin typeface="+mn-lt"/>
            </a:endParaRPr>
          </a:p>
        </p:txBody>
      </p:sp>
      <p:sp>
        <p:nvSpPr>
          <p:cNvPr id="3" name="Content Placeholder 2">
            <a:extLst>
              <a:ext uri="{FF2B5EF4-FFF2-40B4-BE49-F238E27FC236}">
                <a16:creationId xmlns:a16="http://schemas.microsoft.com/office/drawing/2014/main" id="{3C5C1911-51AE-435B-9242-AC8D2D2E1EC1}"/>
              </a:ext>
            </a:extLst>
          </p:cNvPr>
          <p:cNvSpPr>
            <a:spLocks noGrp="1"/>
          </p:cNvSpPr>
          <p:nvPr>
            <p:ph idx="1"/>
          </p:nvPr>
        </p:nvSpPr>
        <p:spPr>
          <a:xfrm>
            <a:off x="442762" y="4041912"/>
            <a:ext cx="3267847" cy="2690192"/>
          </a:xfrm>
        </p:spPr>
        <p:txBody>
          <a:bodyPr>
            <a:normAutofit/>
          </a:bodyPr>
          <a:lstStyle/>
          <a:p>
            <a:pPr marL="0" indent="0">
              <a:buNone/>
            </a:pPr>
            <a:r>
              <a:rPr lang="en-US" sz="2000" dirty="0">
                <a:solidFill>
                  <a:srgbClr val="FF0000"/>
                </a:solidFill>
                <a:latin typeface="Arial Narrow" panose="020B0606020202030204" pitchFamily="34" charset="0"/>
              </a:rPr>
              <a:t>City – Wise Revenue :</a:t>
            </a:r>
          </a:p>
          <a:p>
            <a:pPr marL="0" indent="0">
              <a:buNone/>
            </a:pPr>
            <a:r>
              <a:rPr lang="en-US" sz="2000" dirty="0"/>
              <a:t>The strong revenue performance of Mumbai and Pune contrasts with Delhi’s underperformance, highlighting the need to analyze customer behavior and regional drivers in Delhi.</a:t>
            </a:r>
            <a:endParaRPr lang="en-US" sz="2000" dirty="0">
              <a:solidFill>
                <a:schemeClr val="accent1"/>
              </a:solidFill>
              <a:latin typeface="+mj-lt"/>
            </a:endParaRPr>
          </a:p>
        </p:txBody>
      </p:sp>
      <p:pic>
        <p:nvPicPr>
          <p:cNvPr id="3076" name="Picture 4">
            <a:extLst>
              <a:ext uri="{FF2B5EF4-FFF2-40B4-BE49-F238E27FC236}">
                <a16:creationId xmlns:a16="http://schemas.microsoft.com/office/drawing/2014/main" id="{C56D8397-45DD-42A7-8175-CED533A1B8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8903" y="4187687"/>
            <a:ext cx="7279170" cy="254441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385B7FA5-4F7A-4438-B75C-8D6A094CA5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8903" y="190500"/>
            <a:ext cx="7279171" cy="3851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4402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7EC56-CC41-4DFA-BD7C-3EBCDD021FC3}"/>
              </a:ext>
            </a:extLst>
          </p:cNvPr>
          <p:cNvSpPr>
            <a:spLocks noGrp="1"/>
          </p:cNvSpPr>
          <p:nvPr>
            <p:ph type="title"/>
          </p:nvPr>
        </p:nvSpPr>
        <p:spPr>
          <a:xfrm>
            <a:off x="115503" y="365126"/>
            <a:ext cx="5582653" cy="2351570"/>
          </a:xfrm>
        </p:spPr>
        <p:txBody>
          <a:bodyPr>
            <a:normAutofit fontScale="90000"/>
          </a:bodyPr>
          <a:lstStyle/>
          <a:p>
            <a:r>
              <a:rPr lang="en-IN" sz="2000" b="1" dirty="0">
                <a:solidFill>
                  <a:srgbClr val="FF0000"/>
                </a:solidFill>
                <a:latin typeface="Arial Narrow" panose="020B0606020202030204" pitchFamily="34" charset="0"/>
              </a:rPr>
              <a:t>Customer Insights &amp; Return Analysis</a:t>
            </a:r>
            <a:r>
              <a:rPr lang="en-US" sz="2000" b="1" dirty="0">
                <a:solidFill>
                  <a:srgbClr val="FF0000"/>
                </a:solidFill>
                <a:latin typeface="Arial Narrow" panose="020B0606020202030204" pitchFamily="34" charset="0"/>
              </a:rPr>
              <a:t> :</a:t>
            </a:r>
            <a:br>
              <a:rPr lang="en-US" sz="2000" b="1" dirty="0">
                <a:solidFill>
                  <a:srgbClr val="FF0000"/>
                </a:solidFill>
                <a:latin typeface="Arial Narrow" panose="020B0606020202030204" pitchFamily="34" charset="0"/>
              </a:rPr>
            </a:br>
            <a:br>
              <a:rPr lang="en-US" sz="2000" b="1" dirty="0"/>
            </a:br>
            <a:r>
              <a:rPr lang="en-US" sz="2000" dirty="0">
                <a:latin typeface="+mn-lt"/>
              </a:rPr>
              <a:t>Returning customers typically generate higher revenue because they have greater trust in the brand, are familiar with the products, and respond more effectively to marketing efforts. Their purchasing behavior is more consistent and frequent. In contrast, new customers are still exploring options, which results in lower initial purchase frequency and spending. </a:t>
            </a:r>
            <a:endParaRPr lang="en-IN" sz="2000" dirty="0">
              <a:latin typeface="+mn-lt"/>
            </a:endParaRPr>
          </a:p>
        </p:txBody>
      </p:sp>
      <p:sp>
        <p:nvSpPr>
          <p:cNvPr id="3" name="Content Placeholder 2">
            <a:extLst>
              <a:ext uri="{FF2B5EF4-FFF2-40B4-BE49-F238E27FC236}">
                <a16:creationId xmlns:a16="http://schemas.microsoft.com/office/drawing/2014/main" id="{6FFCECFA-4215-462C-949B-B8895828DA3D}"/>
              </a:ext>
            </a:extLst>
          </p:cNvPr>
          <p:cNvSpPr>
            <a:spLocks noGrp="1"/>
          </p:cNvSpPr>
          <p:nvPr>
            <p:ph idx="1"/>
          </p:nvPr>
        </p:nvSpPr>
        <p:spPr>
          <a:xfrm>
            <a:off x="115503" y="3140764"/>
            <a:ext cx="3763478" cy="3036199"/>
          </a:xfrm>
        </p:spPr>
        <p:txBody>
          <a:bodyPr>
            <a:normAutofit/>
          </a:bodyPr>
          <a:lstStyle/>
          <a:p>
            <a:pPr marL="0" indent="0" algn="ctr">
              <a:buNone/>
            </a:pPr>
            <a:r>
              <a:rPr lang="en-US" sz="2200" dirty="0">
                <a:solidFill>
                  <a:srgbClr val="FF0000"/>
                </a:solidFill>
                <a:latin typeface="Arial Narrow" panose="020B0606020202030204" pitchFamily="34" charset="0"/>
              </a:rPr>
              <a:t>Return Reason:</a:t>
            </a:r>
          </a:p>
          <a:p>
            <a:pPr>
              <a:buFont typeface="Arial" panose="020B0604020202020204" pitchFamily="34" charset="0"/>
              <a:buChar char="•"/>
            </a:pPr>
            <a:r>
              <a:rPr lang="en-US" sz="1800" b="1" dirty="0">
                <a:solidFill>
                  <a:schemeClr val="tx1">
                    <a:lumMod val="95000"/>
                    <a:lumOff val="5000"/>
                  </a:schemeClr>
                </a:solidFill>
              </a:rPr>
              <a:t>Improve product quality</a:t>
            </a:r>
          </a:p>
          <a:p>
            <a:pPr>
              <a:buFont typeface="Arial" panose="020B0604020202020204" pitchFamily="34" charset="0"/>
              <a:buChar char="•"/>
            </a:pPr>
            <a:r>
              <a:rPr lang="en-US" sz="1800" b="1" dirty="0">
                <a:solidFill>
                  <a:schemeClr val="tx1">
                    <a:lumMod val="95000"/>
                    <a:lumOff val="5000"/>
                  </a:schemeClr>
                </a:solidFill>
              </a:rPr>
              <a:t>Update descriptions and sizing info</a:t>
            </a:r>
          </a:p>
          <a:p>
            <a:pPr>
              <a:buFont typeface="Arial" panose="020B0604020202020204" pitchFamily="34" charset="0"/>
              <a:buChar char="•"/>
            </a:pPr>
            <a:r>
              <a:rPr lang="en-US" sz="1800" b="1" dirty="0">
                <a:solidFill>
                  <a:schemeClr val="tx1">
                    <a:lumMod val="95000"/>
                    <a:lumOff val="5000"/>
                  </a:schemeClr>
                </a:solidFill>
              </a:rPr>
              <a:t>Reduce shipping issues</a:t>
            </a:r>
          </a:p>
          <a:p>
            <a:pPr>
              <a:buFont typeface="Arial" panose="020B0604020202020204" pitchFamily="34" charset="0"/>
              <a:buChar char="•"/>
            </a:pPr>
            <a:r>
              <a:rPr lang="en-US" sz="1800" b="1" dirty="0">
                <a:solidFill>
                  <a:schemeClr val="tx1">
                    <a:lumMod val="95000"/>
                    <a:lumOff val="5000"/>
                  </a:schemeClr>
                </a:solidFill>
              </a:rPr>
              <a:t>Target customer satisfaction initiatives</a:t>
            </a:r>
          </a:p>
          <a:p>
            <a:pPr marL="0" indent="0">
              <a:buNone/>
            </a:pPr>
            <a:r>
              <a:rPr lang="en-US" sz="2000" dirty="0">
                <a:solidFill>
                  <a:schemeClr val="accent2">
                    <a:lumMod val="75000"/>
                  </a:schemeClr>
                </a:solidFill>
              </a:rPr>
              <a:t> </a:t>
            </a:r>
          </a:p>
        </p:txBody>
      </p:sp>
      <p:pic>
        <p:nvPicPr>
          <p:cNvPr id="4" name="Picture 2">
            <a:extLst>
              <a:ext uri="{FF2B5EF4-FFF2-40B4-BE49-F238E27FC236}">
                <a16:creationId xmlns:a16="http://schemas.microsoft.com/office/drawing/2014/main" id="{A8104755-6F61-49C0-9B27-55FF310408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0384" y="106018"/>
            <a:ext cx="4094920" cy="290222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00B8D7B8-34F1-4A3A-A5D4-BE1047FED9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0826" y="3140764"/>
            <a:ext cx="6771861" cy="3352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7804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9478EE-F800-43A2-8591-28FBEFEFA262}"/>
              </a:ext>
            </a:extLst>
          </p:cNvPr>
          <p:cNvSpPr>
            <a:spLocks noGrp="1"/>
          </p:cNvSpPr>
          <p:nvPr>
            <p:ph idx="1"/>
          </p:nvPr>
        </p:nvSpPr>
        <p:spPr>
          <a:xfrm>
            <a:off x="192505" y="258418"/>
            <a:ext cx="11853721" cy="6132757"/>
          </a:xfrm>
        </p:spPr>
        <p:txBody>
          <a:bodyPr>
            <a:normAutofit/>
          </a:bodyPr>
          <a:lstStyle/>
          <a:p>
            <a:pPr marL="0" indent="0">
              <a:buNone/>
            </a:pPr>
            <a:r>
              <a:rPr lang="en-US" sz="2000" b="1" dirty="0">
                <a:solidFill>
                  <a:srgbClr val="FF0000"/>
                </a:solidFill>
              </a:rPr>
              <a:t>Correlation Analysis : </a:t>
            </a:r>
          </a:p>
          <a:p>
            <a:pPr marL="0" indent="0">
              <a:buNone/>
            </a:pPr>
            <a:endParaRPr lang="en-IN" sz="2000" b="1" dirty="0"/>
          </a:p>
          <a:p>
            <a:pPr marL="0" indent="0">
              <a:buNone/>
            </a:pPr>
            <a:endParaRPr lang="en-IN" sz="2000" b="1" dirty="0"/>
          </a:p>
          <a:p>
            <a:pPr marL="0" indent="0">
              <a:buNone/>
            </a:pPr>
            <a:endParaRPr lang="en-IN" sz="2000" b="1" dirty="0"/>
          </a:p>
          <a:p>
            <a:pPr marL="0" indent="0">
              <a:buNone/>
            </a:pPr>
            <a:endParaRPr lang="en-IN" sz="2000" b="1" dirty="0"/>
          </a:p>
          <a:p>
            <a:pPr marL="0" indent="0">
              <a:buNone/>
            </a:pPr>
            <a:endParaRPr lang="en-IN" sz="2000" b="1" dirty="0"/>
          </a:p>
          <a:p>
            <a:pPr marL="0" indent="0">
              <a:buNone/>
            </a:pPr>
            <a:endParaRPr lang="en-IN" sz="2000" b="1" dirty="0"/>
          </a:p>
          <a:p>
            <a:pPr marL="0" indent="0">
              <a:buNone/>
            </a:pPr>
            <a:r>
              <a:rPr lang="en-IN" sz="2000" b="1" dirty="0">
                <a:solidFill>
                  <a:srgbClr val="FF0000"/>
                </a:solidFill>
              </a:rPr>
              <a:t>EDA Analysis :</a:t>
            </a:r>
          </a:p>
          <a:p>
            <a:pPr marL="0" indent="0">
              <a:buNone/>
            </a:pPr>
            <a:r>
              <a:rPr lang="en-IN" sz="2000" b="1" dirty="0">
                <a:solidFill>
                  <a:srgbClr val="FF0000"/>
                </a:solidFill>
              </a:rPr>
              <a:t>AOV Distribution : </a:t>
            </a:r>
          </a:p>
        </p:txBody>
      </p:sp>
      <p:pic>
        <p:nvPicPr>
          <p:cNvPr id="5122" name="Picture 2">
            <a:extLst>
              <a:ext uri="{FF2B5EF4-FFF2-40B4-BE49-F238E27FC236}">
                <a16:creationId xmlns:a16="http://schemas.microsoft.com/office/drawing/2014/main" id="{2C4084CD-13CC-4106-8DC4-B8D2907C54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3373" y="106017"/>
            <a:ext cx="5393636" cy="332298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BE849047-B5FF-4B86-861B-A4A1331F91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4748" y="3581401"/>
            <a:ext cx="7152240" cy="3170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8268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D7A04-13EC-4FDF-8A0D-460A9116A1EC}"/>
              </a:ext>
            </a:extLst>
          </p:cNvPr>
          <p:cNvSpPr>
            <a:spLocks noGrp="1"/>
          </p:cNvSpPr>
          <p:nvPr>
            <p:ph type="title"/>
          </p:nvPr>
        </p:nvSpPr>
        <p:spPr>
          <a:xfrm>
            <a:off x="677334" y="106017"/>
            <a:ext cx="8596668" cy="490331"/>
          </a:xfrm>
        </p:spPr>
        <p:txBody>
          <a:bodyPr>
            <a:normAutofit/>
          </a:bodyPr>
          <a:lstStyle/>
          <a:p>
            <a:pPr algn="ctr"/>
            <a:r>
              <a:rPr lang="en-US" sz="2400" b="1" dirty="0">
                <a:solidFill>
                  <a:srgbClr val="FF0000"/>
                </a:solidFill>
              </a:rPr>
              <a:t>Region Revenue Heatmap (Bar Chart) :</a:t>
            </a:r>
            <a:endParaRPr lang="en-IN" sz="2400" b="1" dirty="0">
              <a:solidFill>
                <a:srgbClr val="FF0000"/>
              </a:solidFill>
            </a:endParaRPr>
          </a:p>
        </p:txBody>
      </p:sp>
      <p:sp>
        <p:nvSpPr>
          <p:cNvPr id="3" name="Content Placeholder 2">
            <a:extLst>
              <a:ext uri="{FF2B5EF4-FFF2-40B4-BE49-F238E27FC236}">
                <a16:creationId xmlns:a16="http://schemas.microsoft.com/office/drawing/2014/main" id="{A958FEA0-1937-4399-98F1-7617EB4EA095}"/>
              </a:ext>
            </a:extLst>
          </p:cNvPr>
          <p:cNvSpPr>
            <a:spLocks noGrp="1"/>
          </p:cNvSpPr>
          <p:nvPr>
            <p:ph idx="1"/>
          </p:nvPr>
        </p:nvSpPr>
        <p:spPr>
          <a:xfrm>
            <a:off x="781878" y="3429000"/>
            <a:ext cx="8492124" cy="2612362"/>
          </a:xfrm>
        </p:spPr>
        <p:txBody>
          <a:bodyPr>
            <a:normAutofit/>
          </a:bodyPr>
          <a:lstStyle/>
          <a:p>
            <a:pPr marL="0" indent="0" algn="ctr">
              <a:buNone/>
            </a:pPr>
            <a:r>
              <a:rPr lang="en-IN" sz="2000" b="1" dirty="0">
                <a:solidFill>
                  <a:srgbClr val="FF0000"/>
                </a:solidFill>
                <a:latin typeface="Arial Narrow" panose="020B0606020202030204" pitchFamily="34" charset="0"/>
              </a:rPr>
              <a:t>Visualize anomalies :</a:t>
            </a:r>
          </a:p>
        </p:txBody>
      </p:sp>
      <p:pic>
        <p:nvPicPr>
          <p:cNvPr id="6146" name="Picture 2">
            <a:extLst>
              <a:ext uri="{FF2B5EF4-FFF2-40B4-BE49-F238E27FC236}">
                <a16:creationId xmlns:a16="http://schemas.microsoft.com/office/drawing/2014/main" id="{2A684951-295E-497A-AED6-5FF27A0E8F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678" y="833439"/>
            <a:ext cx="8913970" cy="259556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CDAA942B-58CF-477D-B937-7678CAB92A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3964" y="3975652"/>
            <a:ext cx="9377776" cy="2612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4602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8C4108-1228-4760-8E3E-55ED6307677C}"/>
              </a:ext>
            </a:extLst>
          </p:cNvPr>
          <p:cNvSpPr>
            <a:spLocks noGrp="1"/>
          </p:cNvSpPr>
          <p:nvPr>
            <p:ph idx="1"/>
          </p:nvPr>
        </p:nvSpPr>
        <p:spPr>
          <a:xfrm>
            <a:off x="717090" y="371060"/>
            <a:ext cx="9889950" cy="5981613"/>
          </a:xfrm>
        </p:spPr>
        <p:txBody>
          <a:bodyPr>
            <a:normAutofit lnSpcReduction="10000"/>
          </a:bodyPr>
          <a:lstStyle/>
          <a:p>
            <a:pPr marL="0" indent="0" algn="ctr">
              <a:buNone/>
            </a:pPr>
            <a:r>
              <a:rPr lang="en-US" sz="2400" b="1" dirty="0">
                <a:solidFill>
                  <a:srgbClr val="FF0000"/>
                </a:solidFill>
                <a:latin typeface="Arial Narrow" panose="020B0606020202030204" pitchFamily="34" charset="0"/>
              </a:rPr>
              <a:t>Recommendations</a:t>
            </a:r>
          </a:p>
          <a:p>
            <a:r>
              <a:rPr lang="en-US" sz="2200" dirty="0"/>
              <a:t>Prioritize inventory planning and marketing efforts for top-performing products and SKUs.</a:t>
            </a:r>
          </a:p>
          <a:p>
            <a:r>
              <a:rPr lang="en-US" sz="2200" dirty="0"/>
              <a:t>Increase stock levels for high-demand items to prevent lost sales.</a:t>
            </a:r>
          </a:p>
          <a:p>
            <a:r>
              <a:rPr lang="en-US" sz="2200" dirty="0"/>
              <a:t>Allocate higher marketing budgets to strong-performing regions while launching targeted campaigns in low-performing regions.</a:t>
            </a:r>
          </a:p>
          <a:p>
            <a:r>
              <a:rPr lang="en-US" sz="2200" dirty="0"/>
              <a:t>Focus on retaining high-value and repeat customers through loyalty and engagement programs.</a:t>
            </a:r>
          </a:p>
          <a:p>
            <a:r>
              <a:rPr lang="en-US" sz="2200" dirty="0"/>
              <a:t>Reduce product returns by improving quality checks, enhancing product descriptions, and offering better-matched promotions.</a:t>
            </a:r>
          </a:p>
          <a:p>
            <a:r>
              <a:rPr lang="en-US" sz="2200" dirty="0"/>
              <a:t>Limit excessive discounts on low-margin items to protect overall profitability.</a:t>
            </a:r>
          </a:p>
          <a:p>
            <a:r>
              <a:rPr lang="en-US" sz="2200" dirty="0"/>
              <a:t>Improve visibility of high-margin but low-sales products through strategic promotions.</a:t>
            </a:r>
          </a:p>
          <a:p>
            <a:r>
              <a:rPr lang="en-US" sz="2200" dirty="0"/>
              <a:t>Prepare inventory and staffing in advance for peak seasonal demand.</a:t>
            </a:r>
          </a:p>
          <a:p>
            <a:r>
              <a:rPr lang="en-US" sz="2200" dirty="0"/>
              <a:t>Enhance overall customer experience through faster delivery and improved customer support.</a:t>
            </a:r>
          </a:p>
          <a:p>
            <a:pPr marL="0" indent="0">
              <a:buNone/>
            </a:pPr>
            <a:endParaRPr lang="en-US" dirty="0"/>
          </a:p>
        </p:txBody>
      </p:sp>
    </p:spTree>
    <p:extLst>
      <p:ext uri="{BB962C8B-B14F-4D97-AF65-F5344CB8AC3E}">
        <p14:creationId xmlns:p14="http://schemas.microsoft.com/office/powerpoint/2010/main" val="3625673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8D77965-C07E-4CBD-8F01-C940FE5C00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540" y="92765"/>
            <a:ext cx="11754678" cy="6652591"/>
          </a:xfrm>
        </p:spPr>
      </p:pic>
    </p:spTree>
    <p:extLst>
      <p:ext uri="{BB962C8B-B14F-4D97-AF65-F5344CB8AC3E}">
        <p14:creationId xmlns:p14="http://schemas.microsoft.com/office/powerpoint/2010/main" val="1426247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340</TotalTime>
  <Words>645</Words>
  <Application>Microsoft Office PowerPoint</Application>
  <PresentationFormat>Widescreen</PresentationFormat>
  <Paragraphs>76</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Arial Black</vt:lpstr>
      <vt:lpstr>Arial Narrow</vt:lpstr>
      <vt:lpstr>Calibri</vt:lpstr>
      <vt:lpstr>Calibri Light</vt:lpstr>
      <vt:lpstr>system-ui</vt:lpstr>
      <vt:lpstr>Times New Roman</vt:lpstr>
      <vt:lpstr>Office Theme</vt:lpstr>
      <vt:lpstr>Sales Analysis 360 Project    Prepared By : Akash deep End-to-End Sales Analytics</vt:lpstr>
      <vt:lpstr>Project Overview</vt:lpstr>
      <vt:lpstr>Objectives</vt:lpstr>
      <vt:lpstr>Tools &amp; Technologies</vt:lpstr>
      <vt:lpstr>Data Sources</vt:lpstr>
      <vt:lpstr>2.KPIs: Sales, Margin%, GMV, AOV, Units Sold, Repeat Rate, Return Rate</vt:lpstr>
      <vt:lpstr>Seasonal Trend: Revenue by Month:   January 9055508.48                         February 8298269.92                March 9471519.30  April 8804584.72                              May 9464628.24                       June 8931666.70 July 9163736.81                               August 9229816.43                   September 9177392.63 October 9322530.67                         November 8987982.99              December 9006213.03 </vt:lpstr>
      <vt:lpstr>Seasonal Trend: Revenue by Week Day :</vt:lpstr>
      <vt:lpstr>PowerPoint Presentation</vt:lpstr>
      <vt:lpstr>Category-wise Revenue Fashion categories show strong performance, whereas the electronics category underperforms and warrants detailed root-cause analysis </vt:lpstr>
      <vt:lpstr>Store &amp; Region Analysis :  The consistent strong performance of Store_18, Store_145, and Store_3 highlights their critical role in driving overall business revenue.   </vt:lpstr>
      <vt:lpstr>Customer Insights &amp; Return Analysis :  Returning customers typically generate higher revenue because they have greater trust in the brand, are familiar with the products, and respond more effectively to marketing efforts. Their purchasing behavior is more consistent and frequent. In contrast, new customers are still exploring options, which results in lower initial purchase frequency and spending. </vt:lpstr>
      <vt:lpstr>PowerPoint Presentation</vt:lpstr>
      <vt:lpstr>Region Revenue Heatmap (Bar Chart)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Transaction Analysis Project                       By : Abhay Vardhan Pandey</dc:title>
  <dc:creator>DELL</dc:creator>
  <cp:lastModifiedBy>Akash deep</cp:lastModifiedBy>
  <cp:revision>28</cp:revision>
  <dcterms:created xsi:type="dcterms:W3CDTF">2025-11-10T12:00:40Z</dcterms:created>
  <dcterms:modified xsi:type="dcterms:W3CDTF">2026-01-21T18:10:08Z</dcterms:modified>
</cp:coreProperties>
</file>